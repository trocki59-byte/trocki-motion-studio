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12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f20f4a6f-9a46-5d71-8813-bad1cbb94796/scratchpad/deck/monitor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892040" y="502920"/>
            <a:ext cx="3977640" cy="2734056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54864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 TANITIMI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868680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4EB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TROÇKİ</a:t>
            </a:r>
            <a:endParaRPr lang="en-US" sz="48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155448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Motion Studio</a:t>
            </a:r>
            <a:endParaRPr lang="en-US" sz="28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224028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4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Görsellerden sinematik videolara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265176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89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Çoklu görsel, kamera hareketleri, geçiş efektleri ve tek MP4 çıktısı üreten masaüstü video stüdyosu.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57200" y="3520440"/>
            <a:ext cx="566928" cy="329184"/>
          </a:xfrm>
          <a:prstGeom prst="roundRect">
            <a:avLst>
              <a:gd name="adj" fmla="val 50000"/>
            </a:avLst>
          </a:prstGeom>
          <a:solidFill>
            <a:srgbClr val="2E251D"/>
          </a:solidFill>
          <a:ln w="9525">
            <a:solidFill>
              <a:srgbClr val="D9A441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57200" y="3520440"/>
            <a:ext cx="566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C#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1161288" y="3520440"/>
            <a:ext cx="1673352" cy="329184"/>
          </a:xfrm>
          <a:prstGeom prst="roundRect">
            <a:avLst>
              <a:gd name="adj" fmla="val 50000"/>
            </a:avLst>
          </a:prstGeom>
          <a:solidFill>
            <a:srgbClr val="2E251D"/>
          </a:solidFill>
          <a:ln w="9525">
            <a:solidFill>
              <a:srgbClr val="D9A441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1161288" y="3520440"/>
            <a:ext cx="1673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Forms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2971800" y="3520440"/>
            <a:ext cx="969264" cy="329184"/>
          </a:xfrm>
          <a:prstGeom prst="roundRect">
            <a:avLst>
              <a:gd name="adj" fmla="val 50000"/>
            </a:avLst>
          </a:prstGeom>
          <a:solidFill>
            <a:srgbClr val="2E251D"/>
          </a:solidFill>
          <a:ln w="9525">
            <a:solidFill>
              <a:srgbClr val="D9A441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2971800" y="3520440"/>
            <a:ext cx="9692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FFmpeg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457200" y="42976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Hazırlayan: TROÇKİ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712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PROJENIN AMACI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4EB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Fotoğraftan harekete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2606040" cy="2651760"/>
          </a:xfrm>
          <a:prstGeom prst="roundRect">
            <a:avLst>
              <a:gd name="adj" fmla="val 4211"/>
            </a:avLst>
          </a:prstGeom>
          <a:solidFill>
            <a:srgbClr val="241D17"/>
          </a:solidFill>
          <a:ln w="12700">
            <a:solidFill>
              <a:srgbClr val="241D17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828800"/>
            <a:ext cx="457200" cy="457200"/>
          </a:xfrm>
          <a:prstGeom prst="ellipse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12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51460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4EB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Hareketli video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97180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89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Fotoğraflardan hareketli video üretimini kolaylaştırmak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46120" y="1554480"/>
            <a:ext cx="2606040" cy="2651760"/>
          </a:xfrm>
          <a:prstGeom prst="roundRect">
            <a:avLst>
              <a:gd name="adj" fmla="val 4211"/>
            </a:avLst>
          </a:prstGeom>
          <a:solidFill>
            <a:srgbClr val="241D17"/>
          </a:solidFill>
          <a:ln w="12700">
            <a:solidFill>
              <a:srgbClr val="241D17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520440" y="1828800"/>
            <a:ext cx="457200" cy="457200"/>
          </a:xfrm>
          <a:prstGeom prst="ellipse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52044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12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3520440" y="251460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4EB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Tek arayüz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3520440" y="297180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89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Düzenleme ve dışa aktarmanın tek bir masaüstü ekranında yapılması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035040" y="1554480"/>
            <a:ext cx="2606040" cy="2651760"/>
          </a:xfrm>
          <a:prstGeom prst="roundRect">
            <a:avLst>
              <a:gd name="adj" fmla="val 4211"/>
            </a:avLst>
          </a:prstGeom>
          <a:solidFill>
            <a:srgbClr val="241D17"/>
          </a:solidFill>
          <a:ln w="12700">
            <a:solidFill>
              <a:srgbClr val="241D17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309360" y="1828800"/>
            <a:ext cx="457200" cy="457200"/>
          </a:xfrm>
          <a:prstGeom prst="ellipse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30936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12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309360" y="251460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4EB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Tam kontrol</a:t>
            </a:r>
            <a:endParaRPr lang="en-US" sz="1900" dirty="0"/>
          </a:p>
        </p:txBody>
      </p:sp>
      <p:sp>
        <p:nvSpPr>
          <p:cNvPr id="18" name="Text 16"/>
          <p:cNvSpPr txBox="1"/>
          <p:nvPr/>
        </p:nvSpPr>
        <p:spPr>
          <a:xfrm>
            <a:off x="6309360" y="297180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89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Kullanıcının süre, format, hız ve hareketi belirlemesi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" y="4297680"/>
            <a:ext cx="8229600" cy="365760"/>
          </a:xfrm>
          <a:prstGeom prst="roundRect">
            <a:avLst>
              <a:gd name="adj" fmla="val 20000"/>
            </a:avLst>
          </a:prstGeom>
          <a:solidFill>
            <a:srgbClr val="17120E"/>
          </a:solidFill>
          <a:ln w="9525">
            <a:solidFill>
              <a:srgbClr val="D9A441"/>
            </a:solidFill>
            <a:prstDash val="dash"/>
          </a:ln>
        </p:spPr>
      </p:sp>
      <p:sp>
        <p:nvSpPr>
          <p:cNvPr id="20" name="Text 18"/>
          <p:cNvSpPr txBox="1"/>
          <p:nvPr/>
        </p:nvSpPr>
        <p:spPr>
          <a:xfrm>
            <a:off x="640080" y="42976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Gelecek: prompt tabanlı yapay zekâ videolarını da entegre etmek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4754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9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TROÇKİ  •  Motion Studio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7772400" y="47548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9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712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TEKNIK ALTYAPI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4EB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Sağlam bir temel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8229600" cy="603504"/>
          </a:xfrm>
          <a:prstGeom prst="roundRect">
            <a:avLst>
              <a:gd name="adj" fmla="val 18182"/>
            </a:avLst>
          </a:prstGeom>
          <a:solidFill>
            <a:srgbClr val="241D17"/>
          </a:solidFill>
          <a:ln w="12700">
            <a:solidFill>
              <a:srgbClr val="241D17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700784"/>
            <a:ext cx="310896" cy="310896"/>
          </a:xfrm>
          <a:prstGeom prst="ellipse">
            <a:avLst/>
          </a:prstGeom>
          <a:solidFill>
            <a:srgbClr val="3B7DDD"/>
          </a:solidFill>
          <a:ln w="12700">
            <a:solidFill>
              <a:srgbClr val="3B7DD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234440" y="1554480"/>
            <a:ext cx="3108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EB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C# · Windows Forms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4389120" y="1554480"/>
            <a:ext cx="4114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89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Kullanıcı arayüzü ve iş akışı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304288"/>
            <a:ext cx="8229600" cy="603504"/>
          </a:xfrm>
          <a:prstGeom prst="roundRect">
            <a:avLst>
              <a:gd name="adj" fmla="val 18182"/>
            </a:avLst>
          </a:prstGeom>
          <a:solidFill>
            <a:srgbClr val="241D17"/>
          </a:solidFill>
          <a:ln w="12700">
            <a:solidFill>
              <a:srgbClr val="241D17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85800" y="2450592"/>
            <a:ext cx="310896" cy="310896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234440" y="2304288"/>
            <a:ext cx="3108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EB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FFmpeg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4389120" y="2304288"/>
            <a:ext cx="4114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89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Filtreler, H.264 kodlama ve MP4 birleştirme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3054096"/>
            <a:ext cx="8229600" cy="603504"/>
          </a:xfrm>
          <a:prstGeom prst="roundRect">
            <a:avLst>
              <a:gd name="adj" fmla="val 18182"/>
            </a:avLst>
          </a:prstGeom>
          <a:solidFill>
            <a:srgbClr val="241D17"/>
          </a:solidFill>
          <a:ln w="12700">
            <a:solidFill>
              <a:srgbClr val="241D17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85800" y="3200400"/>
            <a:ext cx="310896" cy="310896"/>
          </a:xfrm>
          <a:prstGeom prst="ellipse">
            <a:avLst/>
          </a:prstGeom>
          <a:solidFill>
            <a:srgbClr val="4CAF6A"/>
          </a:solidFill>
          <a:ln w="12700">
            <a:solidFill>
              <a:srgbClr val="4CAF6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234440" y="3054096"/>
            <a:ext cx="3108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EB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Önizleme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4389120" y="3054096"/>
            <a:ext cx="4114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89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Görsel önizleme ve çoklu dosya seçimi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3803904"/>
            <a:ext cx="8229600" cy="603504"/>
          </a:xfrm>
          <a:prstGeom prst="roundRect">
            <a:avLst>
              <a:gd name="adj" fmla="val 18182"/>
            </a:avLst>
          </a:prstGeom>
          <a:solidFill>
            <a:srgbClr val="241D17"/>
          </a:solidFill>
          <a:ln w="12700">
            <a:solidFill>
              <a:srgbClr val="241D17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85800" y="3950208"/>
            <a:ext cx="310896" cy="310896"/>
          </a:xfrm>
          <a:prstGeom prst="ellipse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234440" y="3803904"/>
            <a:ext cx="3108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EB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Concat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4389120" y="3803904"/>
            <a:ext cx="4114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89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Geçici klipler birleştirilerek final video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4754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9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TROÇKİ  •  Motion Studio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7772400" y="47548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9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712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TAMAMLANAN ÖZELLIKLER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4EB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Çalışan özellikler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2606040" cy="1280160"/>
          </a:xfrm>
          <a:prstGeom prst="roundRect">
            <a:avLst>
              <a:gd name="adj" fmla="val 8571"/>
            </a:avLst>
          </a:prstGeom>
          <a:solidFill>
            <a:srgbClr val="241D17"/>
          </a:solidFill>
          <a:ln w="12700">
            <a:solidFill>
              <a:srgbClr val="241D17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783080"/>
            <a:ext cx="109728" cy="384048"/>
          </a:xfrm>
          <a:prstGeom prst="rect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0" y="1755648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EB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Çoklu görsel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2860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89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Seçme, listeleme ve önizleme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46120" y="1554480"/>
            <a:ext cx="2606040" cy="1280160"/>
          </a:xfrm>
          <a:prstGeom prst="roundRect">
            <a:avLst>
              <a:gd name="adj" fmla="val 8571"/>
            </a:avLst>
          </a:prstGeom>
          <a:solidFill>
            <a:srgbClr val="241D17"/>
          </a:solidFill>
          <a:ln w="12700">
            <a:solidFill>
              <a:srgbClr val="241D17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474720" y="1783080"/>
            <a:ext cx="109728" cy="384048"/>
          </a:xfrm>
          <a:prstGeom prst="rect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703320" y="1755648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EB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Oran ve FPS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3474720" y="22860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89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16:9, 9:16, 1:1 · 24 / 30 / 60 FPS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035040" y="1554480"/>
            <a:ext cx="2606040" cy="1280160"/>
          </a:xfrm>
          <a:prstGeom prst="roundRect">
            <a:avLst>
              <a:gd name="adj" fmla="val 8571"/>
            </a:avLst>
          </a:prstGeom>
          <a:solidFill>
            <a:srgbClr val="241D17"/>
          </a:solidFill>
          <a:ln w="12700">
            <a:solidFill>
              <a:srgbClr val="241D17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263640" y="1783080"/>
            <a:ext cx="109728" cy="384048"/>
          </a:xfrm>
          <a:prstGeom prst="rect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92240" y="1755648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EB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Zoom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6263640" y="22860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89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Zoom In, Zoom Out ve sinematik Zoom + Pan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017520"/>
            <a:ext cx="2606040" cy="1280160"/>
          </a:xfrm>
          <a:prstGeom prst="roundRect">
            <a:avLst>
              <a:gd name="adj" fmla="val 8571"/>
            </a:avLst>
          </a:prstGeom>
          <a:solidFill>
            <a:srgbClr val="241D17"/>
          </a:solidFill>
          <a:ln w="12700">
            <a:solidFill>
              <a:srgbClr val="241D17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85800" y="3246120"/>
            <a:ext cx="109728" cy="384048"/>
          </a:xfrm>
          <a:prstGeom prst="rect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14400" y="3218688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EB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Pan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685800" y="37490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89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Sol–sağ, sağ–sol, yukarı–aşağı, aşağı–yukarı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246120" y="3017520"/>
            <a:ext cx="2606040" cy="1280160"/>
          </a:xfrm>
          <a:prstGeom prst="roundRect">
            <a:avLst>
              <a:gd name="adj" fmla="val 8571"/>
            </a:avLst>
          </a:prstGeom>
          <a:solidFill>
            <a:srgbClr val="241D17"/>
          </a:solidFill>
          <a:ln w="12700">
            <a:solidFill>
              <a:srgbClr val="241D17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474720" y="3246120"/>
            <a:ext cx="109728" cy="384048"/>
          </a:xfrm>
          <a:prstGeom prst="rect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703320" y="3218688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EB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Fade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3474720" y="37490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89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Klip başında açılma, sonunda kararma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035040" y="3017520"/>
            <a:ext cx="2606040" cy="1280160"/>
          </a:xfrm>
          <a:prstGeom prst="roundRect">
            <a:avLst>
              <a:gd name="adj" fmla="val 8571"/>
            </a:avLst>
          </a:prstGeom>
          <a:solidFill>
            <a:srgbClr val="241D17"/>
          </a:solidFill>
          <a:ln w="12700">
            <a:solidFill>
              <a:srgbClr val="241D17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263640" y="3246120"/>
            <a:ext cx="109728" cy="384048"/>
          </a:xfrm>
          <a:prstGeom prst="rect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492240" y="3218688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EB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Tek MP4</a:t>
            </a:r>
            <a:endParaRPr lang="en-US" sz="1700" dirty="0"/>
          </a:p>
        </p:txBody>
      </p:sp>
      <p:sp>
        <p:nvSpPr>
          <p:cNvPr id="27" name="Text 25"/>
          <p:cNvSpPr txBox="1"/>
          <p:nvPr/>
        </p:nvSpPr>
        <p:spPr>
          <a:xfrm>
            <a:off x="6263640" y="37490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89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Tüm klipler tek final dosyada birleşir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457200" y="4754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9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TROÇKİ  •  Motion Studio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7772400" y="47548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9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712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ÜRETIM AKIŞI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4EB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Görselden MP4’e beş adım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737360"/>
            <a:ext cx="1371600" cy="1371600"/>
          </a:xfrm>
          <a:prstGeom prst="roundRect">
            <a:avLst>
              <a:gd name="adj" fmla="val 8000"/>
            </a:avLst>
          </a:prstGeom>
          <a:solidFill>
            <a:srgbClr val="241D17"/>
          </a:solidFill>
          <a:ln w="12700">
            <a:solidFill>
              <a:srgbClr val="241D17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457200" y="18288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33172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Görselleri seç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828800" y="2103120"/>
            <a:ext cx="338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2167128" y="1737360"/>
            <a:ext cx="1371600" cy="1371600"/>
          </a:xfrm>
          <a:prstGeom prst="roundRect">
            <a:avLst>
              <a:gd name="adj" fmla="val 8000"/>
            </a:avLst>
          </a:prstGeom>
          <a:solidFill>
            <a:srgbClr val="241D17"/>
          </a:solidFill>
          <a:ln w="12700">
            <a:solidFill>
              <a:srgbClr val="241D17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2167128" y="18288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2258568" y="233172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Süre, hareket, hız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3538728" y="2103120"/>
            <a:ext cx="338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3877056" y="1737360"/>
            <a:ext cx="1371600" cy="1371600"/>
          </a:xfrm>
          <a:prstGeom prst="roundRect">
            <a:avLst>
              <a:gd name="adj" fmla="val 8000"/>
            </a:avLst>
          </a:prstGeom>
          <a:solidFill>
            <a:srgbClr val="241D17"/>
          </a:solidFill>
          <a:ln w="12700">
            <a:solidFill>
              <a:srgbClr val="241D17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3877056" y="18288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3968496" y="233172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FFmpeg klipleri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5248656" y="2103120"/>
            <a:ext cx="338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5586984" y="1737360"/>
            <a:ext cx="1371600" cy="1371600"/>
          </a:xfrm>
          <a:prstGeom prst="roundRect">
            <a:avLst>
              <a:gd name="adj" fmla="val 8000"/>
            </a:avLst>
          </a:prstGeom>
          <a:solidFill>
            <a:srgbClr val="241D17"/>
          </a:solidFill>
          <a:ln w="12700">
            <a:solidFill>
              <a:srgbClr val="241D17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5586984" y="18288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600" dirty="0"/>
          </a:p>
        </p:txBody>
      </p:sp>
      <p:sp>
        <p:nvSpPr>
          <p:cNvPr id="18" name="Text 16"/>
          <p:cNvSpPr txBox="1"/>
          <p:nvPr/>
        </p:nvSpPr>
        <p:spPr>
          <a:xfrm>
            <a:off x="5678424" y="233172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Fade efekti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958584" y="2103120"/>
            <a:ext cx="338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7296912" y="1737360"/>
            <a:ext cx="1371600" cy="1371600"/>
          </a:xfrm>
          <a:prstGeom prst="roundRect">
            <a:avLst>
              <a:gd name="adj" fmla="val 8000"/>
            </a:avLst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7296912" y="18288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712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600" dirty="0"/>
          </a:p>
        </p:txBody>
      </p:sp>
      <p:sp>
        <p:nvSpPr>
          <p:cNvPr id="22" name="Text 20"/>
          <p:cNvSpPr txBox="1"/>
          <p:nvPr/>
        </p:nvSpPr>
        <p:spPr>
          <a:xfrm>
            <a:off x="7388352" y="233172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12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 MP4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57200" y="3566160"/>
            <a:ext cx="8229600" cy="822960"/>
          </a:xfrm>
          <a:prstGeom prst="roundRect">
            <a:avLst>
              <a:gd name="adj" fmla="val 11111"/>
            </a:avLst>
          </a:prstGeom>
          <a:solidFill>
            <a:srgbClr val="2E251D"/>
          </a:solidFill>
          <a:ln w="12700">
            <a:solidFill>
              <a:srgbClr val="2E251D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31520" y="356616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Örnek:  </a:t>
            </a:r>
            <a:pPr indent="0" marL="0">
              <a:buNone/>
            </a:pPr>
            <a:r>
              <a:rPr lang="en-US" sz="1600" dirty="0">
                <a:solidFill>
                  <a:srgbClr val="F4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görsel × 5 saniye ≈ 15 saniyelik video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4754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9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TROÇKİ  •  Motion Studio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7772400" y="47548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9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712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HAREKET VE GEÇIŞ MOTORU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4EB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Kamera, hız ve geçiş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4937760" cy="530352"/>
          </a:xfrm>
          <a:prstGeom prst="roundRect">
            <a:avLst>
              <a:gd name="adj" fmla="val 20690"/>
            </a:avLst>
          </a:prstGeom>
          <a:solidFill>
            <a:srgbClr val="241D17"/>
          </a:solidFill>
          <a:ln w="12700">
            <a:solidFill>
              <a:srgbClr val="241D17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85800" y="1463040"/>
            <a:ext cx="1280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Zoom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2011680" y="1463040"/>
            <a:ext cx="3246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Sabit görüntü üzerinde kontrollü Zoom In / Zoom Out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" y="2103120"/>
            <a:ext cx="4937760" cy="530352"/>
          </a:xfrm>
          <a:prstGeom prst="roundRect">
            <a:avLst>
              <a:gd name="adj" fmla="val 20690"/>
            </a:avLst>
          </a:prstGeom>
          <a:solidFill>
            <a:srgbClr val="241D17"/>
          </a:solidFill>
          <a:ln w="12700">
            <a:solidFill>
              <a:srgbClr val="241D17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85800" y="2103120"/>
            <a:ext cx="1280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Pan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2011680" y="2103120"/>
            <a:ext cx="3246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Dört yönde kadraj hareketi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57200" y="2743200"/>
            <a:ext cx="4937760" cy="530352"/>
          </a:xfrm>
          <a:prstGeom prst="roundRect">
            <a:avLst>
              <a:gd name="adj" fmla="val 20690"/>
            </a:avLst>
          </a:prstGeom>
          <a:solidFill>
            <a:srgbClr val="241D17"/>
          </a:solidFill>
          <a:ln w="12700">
            <a:solidFill>
              <a:srgbClr val="241D17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85800" y="2743200"/>
            <a:ext cx="1280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Hız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2011680" y="2743200"/>
            <a:ext cx="3246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Çok Yavaş · Yavaş · Normal · Hızlı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57200" y="3383280"/>
            <a:ext cx="4937760" cy="530352"/>
          </a:xfrm>
          <a:prstGeom prst="roundRect">
            <a:avLst>
              <a:gd name="adj" fmla="val 20690"/>
            </a:avLst>
          </a:prstGeom>
          <a:solidFill>
            <a:srgbClr val="241D17"/>
          </a:solidFill>
          <a:ln w="12700">
            <a:solidFill>
              <a:srgbClr val="241D17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685800" y="3383280"/>
            <a:ext cx="1280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Fade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2011680" y="3383280"/>
            <a:ext cx="3246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Klip başında açılma, sonunda kararma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57200" y="4023360"/>
            <a:ext cx="4937760" cy="530352"/>
          </a:xfrm>
          <a:prstGeom prst="roundRect">
            <a:avLst>
              <a:gd name="adj" fmla="val 20690"/>
            </a:avLst>
          </a:prstGeom>
          <a:solidFill>
            <a:srgbClr val="241D17"/>
          </a:solidFill>
          <a:ln w="12700">
            <a:solidFill>
              <a:srgbClr val="241D17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685800" y="4023360"/>
            <a:ext cx="1280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Sinematik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2011680" y="4023360"/>
            <a:ext cx="3246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Zoom ve Pan’in birleşik kamera efekti</a:t>
            </a:r>
            <a:endParaRPr lang="en-US" sz="1250" dirty="0"/>
          </a:p>
        </p:txBody>
      </p:sp>
      <p:pic>
        <p:nvPicPr>
          <p:cNvPr id="19" name="Image 0" descr="/tmp/claude-0/-home-claude/f20f4a6f-9a46-5d71-8813-bad1cbb94796/scratchpad/deck/monitor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669280" y="1463040"/>
            <a:ext cx="3017520" cy="2075688"/>
          </a:xfrm>
          <a:prstGeom prst="rect">
            <a:avLst/>
          </a:prstGeom>
        </p:spPr>
      </p:pic>
      <p:sp>
        <p:nvSpPr>
          <p:cNvPr id="20" name="Text 17"/>
          <p:cNvSpPr txBox="1"/>
          <p:nvPr/>
        </p:nvSpPr>
        <p:spPr>
          <a:xfrm>
            <a:off x="5669280" y="365760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A89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Arayüzde süre, hareket, hız, geçiş ve oran tek panelden seçilir.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457200" y="4754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9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TROÇKİ  •  Motion Studio</a:t>
            </a:r>
            <a:endParaRPr lang="en-US" sz="1000" dirty="0"/>
          </a:p>
        </p:txBody>
      </p:sp>
      <p:sp>
        <p:nvSpPr>
          <p:cNvPr id="22" name="Text 19"/>
          <p:cNvSpPr txBox="1"/>
          <p:nvPr/>
        </p:nvSpPr>
        <p:spPr>
          <a:xfrm>
            <a:off x="7772400" y="47548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9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712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TESTLERDE DOĞRULANANLAR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4EB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sonuçları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536192"/>
            <a:ext cx="329184" cy="329184"/>
          </a:xfrm>
          <a:prstGeom prst="ellipse">
            <a:avLst/>
          </a:prstGeom>
          <a:solidFill>
            <a:srgbClr val="4CAF6A"/>
          </a:solidFill>
          <a:ln w="12700">
            <a:solidFill>
              <a:srgbClr val="4CAF6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5361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12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1463040"/>
            <a:ext cx="4114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4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Görsel seçimi ve listede gösterimi çalışıyor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103120"/>
            <a:ext cx="329184" cy="329184"/>
          </a:xfrm>
          <a:prstGeom prst="ellipse">
            <a:avLst/>
          </a:prstGeom>
          <a:solidFill>
            <a:srgbClr val="4CAF6A"/>
          </a:solidFill>
          <a:ln w="12700">
            <a:solidFill>
              <a:srgbClr val="4CAF6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21031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12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2029968"/>
            <a:ext cx="4114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4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Birden çok görsel için geçici MP4 klipleri oluşuyor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670048"/>
            <a:ext cx="329184" cy="329184"/>
          </a:xfrm>
          <a:prstGeom prst="ellipse">
            <a:avLst/>
          </a:prstGeom>
          <a:solidFill>
            <a:srgbClr val="4CAF6A"/>
          </a:solidFill>
          <a:ln w="12700">
            <a:solidFill>
              <a:srgbClr val="4CAF6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" y="26700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12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2596896"/>
            <a:ext cx="4114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4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Klipler tek final MP4 dosyasında birleşiyor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3236976"/>
            <a:ext cx="329184" cy="329184"/>
          </a:xfrm>
          <a:prstGeom prst="ellipse">
            <a:avLst/>
          </a:prstGeom>
          <a:solidFill>
            <a:srgbClr val="4CAF6A"/>
          </a:solidFill>
          <a:ln w="12700">
            <a:solidFill>
              <a:srgbClr val="4CAF6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7200" y="323697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12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3163824"/>
            <a:ext cx="4114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4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Fade geçişleri test edildi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3840480"/>
            <a:ext cx="4663440" cy="640080"/>
          </a:xfrm>
          <a:prstGeom prst="roundRect">
            <a:avLst>
              <a:gd name="adj" fmla="val 17143"/>
            </a:avLst>
          </a:prstGeom>
          <a:solidFill>
            <a:srgbClr val="2E251D"/>
          </a:solidFill>
          <a:ln w="12700">
            <a:solidFill>
              <a:srgbClr val="2E251D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85800" y="3995928"/>
            <a:ext cx="329184" cy="329184"/>
          </a:xfrm>
          <a:prstGeom prst="ellipse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85800" y="39959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12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188720" y="384048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Bazı en-boy oranlarında Pan kadrajı hâlâ iyileştirilmeli</a:t>
            </a:r>
            <a:endParaRPr lang="en-US" sz="1300" dirty="0"/>
          </a:p>
        </p:txBody>
      </p:sp>
      <p:pic>
        <p:nvPicPr>
          <p:cNvPr id="20" name="Image 0" descr="/tmp/claude-0/-home-claude/f20f4a6f-9a46-5d71-8813-bad1cbb94796/scratchpad/deck/strip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394960" y="1463040"/>
            <a:ext cx="3291840" cy="594360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5394960" y="21488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A89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Film şeridi: bir dizi görselden tek bir sinematik akış.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457200" y="4754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9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TROÇKİ  •  Motion Studio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7772400" y="47548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9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712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GELIŞTIRME YOL HARITASI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4EB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Sıradaki adımlar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77240" y="1737360"/>
            <a:ext cx="0" cy="2743200"/>
          </a:xfrm>
          <a:prstGeom prst="line">
            <a:avLst/>
          </a:prstGeom>
          <a:noFill/>
          <a:ln w="19050">
            <a:solidFill>
              <a:srgbClr val="D9A441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548640" y="1463040"/>
            <a:ext cx="457200" cy="457200"/>
          </a:xfrm>
          <a:prstGeom prst="ellipse">
            <a:avLst/>
          </a:prstGeom>
          <a:solidFill>
            <a:srgbClr val="F4EBDD"/>
          </a:solidFill>
          <a:ln w="12700">
            <a:solidFill>
              <a:srgbClr val="F4EBD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12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280160" y="1463040"/>
            <a:ext cx="7406640" cy="512064"/>
          </a:xfrm>
          <a:prstGeom prst="roundRect">
            <a:avLst>
              <a:gd name="adj" fmla="val 21429"/>
            </a:avLst>
          </a:prstGeom>
          <a:solidFill>
            <a:srgbClr val="241D17"/>
          </a:solidFill>
          <a:ln w="12700">
            <a:solidFill>
              <a:srgbClr val="241D17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1508760" y="1463040"/>
            <a:ext cx="2743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EB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Güvenli Fit + Pan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4297680" y="1463040"/>
            <a:ext cx="4206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9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Görselin tamamını koruyan hareket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2084832"/>
            <a:ext cx="457200" cy="457200"/>
          </a:xfrm>
          <a:prstGeom prst="ellipse">
            <a:avLst/>
          </a:prstGeom>
          <a:solidFill>
            <a:srgbClr val="F4EBDD"/>
          </a:solidFill>
          <a:ln w="12700">
            <a:solidFill>
              <a:srgbClr val="F4EBD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20848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12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280160" y="2084832"/>
            <a:ext cx="7406640" cy="512064"/>
          </a:xfrm>
          <a:prstGeom prst="roundRect">
            <a:avLst>
              <a:gd name="adj" fmla="val 21429"/>
            </a:avLst>
          </a:prstGeom>
          <a:solidFill>
            <a:srgbClr val="241D17"/>
          </a:solidFill>
          <a:ln w="12700">
            <a:solidFill>
              <a:srgbClr val="241D17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1508760" y="2084832"/>
            <a:ext cx="2743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EB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Gerçek Crossfade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4297680" y="2084832"/>
            <a:ext cx="4206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9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İki klibin birbirine erimesi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2706624"/>
            <a:ext cx="457200" cy="457200"/>
          </a:xfrm>
          <a:prstGeom prst="ellipse">
            <a:avLst/>
          </a:prstGeom>
          <a:solidFill>
            <a:srgbClr val="F4EBDD"/>
          </a:solidFill>
          <a:ln w="12700">
            <a:solidFill>
              <a:srgbClr val="F4EBD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27066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12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1280160" y="2706624"/>
            <a:ext cx="7406640" cy="512064"/>
          </a:xfrm>
          <a:prstGeom prst="roundRect">
            <a:avLst>
              <a:gd name="adj" fmla="val 21429"/>
            </a:avLst>
          </a:prstGeom>
          <a:solidFill>
            <a:srgbClr val="241D17"/>
          </a:solidFill>
          <a:ln w="12700">
            <a:solidFill>
              <a:srgbClr val="241D17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1508760" y="2706624"/>
            <a:ext cx="2743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EB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Görsel bazlı ayar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4297680" y="2706624"/>
            <a:ext cx="4206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9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görsele ayrı süre ve hareket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3328416"/>
            <a:ext cx="457200" cy="457200"/>
          </a:xfrm>
          <a:prstGeom prst="ellipse">
            <a:avLst/>
          </a:prstGeom>
          <a:solidFill>
            <a:srgbClr val="F4EBDD"/>
          </a:solidFill>
          <a:ln w="12700">
            <a:solidFill>
              <a:srgbClr val="F4EBDD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48640" y="33284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12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1280160" y="3328416"/>
            <a:ext cx="7406640" cy="512064"/>
          </a:xfrm>
          <a:prstGeom prst="roundRect">
            <a:avLst>
              <a:gd name="adj" fmla="val 21429"/>
            </a:avLst>
          </a:prstGeom>
          <a:solidFill>
            <a:srgbClr val="241D17"/>
          </a:solidFill>
          <a:ln w="12700">
            <a:solidFill>
              <a:srgbClr val="241D17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1508760" y="3328416"/>
            <a:ext cx="2743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EB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Ses ve proje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4297680" y="3328416"/>
            <a:ext cx="4206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9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Müzik, zaman çizelgesi, proje kaydetme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48640" y="3950208"/>
            <a:ext cx="457200" cy="457200"/>
          </a:xfrm>
          <a:prstGeom prst="ellipse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48640" y="39502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12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1280160" y="3950208"/>
            <a:ext cx="7406640" cy="512064"/>
          </a:xfrm>
          <a:prstGeom prst="roundRect">
            <a:avLst>
              <a:gd name="adj" fmla="val 21429"/>
            </a:avLst>
          </a:prstGeom>
          <a:solidFill>
            <a:srgbClr val="241D17"/>
          </a:solidFill>
          <a:ln w="12700">
            <a:solidFill>
              <a:srgbClr val="241D17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sp>
        <p:nvSpPr>
          <p:cNvPr id="28" name="Text 26"/>
          <p:cNvSpPr txBox="1"/>
          <p:nvPr/>
        </p:nvSpPr>
        <p:spPr>
          <a:xfrm>
            <a:off x="1508760" y="3950208"/>
            <a:ext cx="2743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EB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Video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4297680" y="3950208"/>
            <a:ext cx="4206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9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Görsel + prompt ile hareketli video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457200" y="4754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9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TROÇKİ  •  Motion Studio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7772400" y="47548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9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712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· YAPAY ZEKÂ ENTEGRASYONU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4EB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Hedef: görselden AI videosuna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1828800" cy="1920240"/>
          </a:xfrm>
          <a:prstGeom prst="roundRect">
            <a:avLst>
              <a:gd name="adj" fmla="val 6000"/>
            </a:avLst>
          </a:prstGeom>
          <a:solidFill>
            <a:srgbClr val="241D17"/>
          </a:solidFill>
          <a:ln w="12700">
            <a:solidFill>
              <a:srgbClr val="241D17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594360" y="169164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Görsel + prompt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2286000"/>
            <a:ext cx="1554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4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Görsel seçimi ve doğal dille hareket tarifi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2286000" y="219456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2560320" y="1554480"/>
            <a:ext cx="1828800" cy="1920240"/>
          </a:xfrm>
          <a:prstGeom prst="roundRect">
            <a:avLst>
              <a:gd name="adj" fmla="val 6000"/>
            </a:avLst>
          </a:prstGeom>
          <a:solidFill>
            <a:srgbClr val="2E251D"/>
          </a:solidFill>
          <a:ln w="12700">
            <a:solidFill>
              <a:srgbClr val="2E251D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2697480" y="169164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Image-to-video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2697480" y="2286000"/>
            <a:ext cx="1554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4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Harici modele istek gönderilir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389120" y="219456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4663440" y="1554480"/>
            <a:ext cx="1828800" cy="1920240"/>
          </a:xfrm>
          <a:prstGeom prst="roundRect">
            <a:avLst>
              <a:gd name="adj" fmla="val 6000"/>
            </a:avLst>
          </a:prstGeom>
          <a:solidFill>
            <a:srgbClr val="241D17"/>
          </a:solidFill>
          <a:ln w="12700">
            <a:solidFill>
              <a:srgbClr val="241D17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4800600" y="169164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Klip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4800600" y="2286000"/>
            <a:ext cx="1554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4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Üretilen video Motion Studio’ya alınır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492240" y="219456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766560" y="1554480"/>
            <a:ext cx="1828800" cy="1920240"/>
          </a:xfrm>
          <a:prstGeom prst="roundRect">
            <a:avLst>
              <a:gd name="adj" fmla="val 6000"/>
            </a:avLst>
          </a:prstGeom>
          <a:solidFill>
            <a:srgbClr val="241D17"/>
          </a:solidFill>
          <a:ln w="12700">
            <a:solidFill>
              <a:srgbClr val="241D17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6903720" y="169164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Montaj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903720" y="2286000"/>
            <a:ext cx="1554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4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Mevcut Fade ve birleştirme motoruyla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3840480"/>
            <a:ext cx="8229600" cy="640080"/>
          </a:xfrm>
          <a:prstGeom prst="roundRect">
            <a:avLst>
              <a:gd name="adj" fmla="val 14286"/>
            </a:avLst>
          </a:prstGeom>
          <a:solidFill>
            <a:srgbClr val="17120E"/>
          </a:solidFill>
          <a:ln w="9525">
            <a:solidFill>
              <a:srgbClr val="A89A88"/>
            </a:solidFill>
            <a:prstDash val="dash"/>
          </a:ln>
        </p:spPr>
      </p:sp>
      <p:sp>
        <p:nvSpPr>
          <p:cNvPr id="20" name="Text 18"/>
          <p:cNvSpPr txBox="1"/>
          <p:nvPr/>
        </p:nvSpPr>
        <p:spPr>
          <a:xfrm>
            <a:off x="685800" y="384048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89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Not: AI servis kullanımı ayrı ücretlendirilebilir.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4754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9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TROÇKİ  •  Motion Studio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7772400" y="47548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9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712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f20f4a6f-9a46-5d71-8813-bad1cbb94796/scratchpad/deck/strip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3520440"/>
            <a:ext cx="9144000" cy="146304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SONUÇ VE VİZYON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82296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4EB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TROÇKİ Motion Studio bugün çalışan bir görselden-video montaj prototipi.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210312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A89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Sonraki hedef: kadraj güvenliği, gelişmiş geçişler ve yapay zekâ destekli gerçek sahne hareketleri.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292608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Fotoğraflar hikâyelere dönüşüyor.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TROÇKİ Motion Studio</dc:title>
  <dc:subject>PptxGenJS Presentation</dc:subject>
  <dc:creator>TROÇKİ</dc:creator>
  <cp:lastModifiedBy>TROÇKİ</cp:lastModifiedBy>
  <cp:revision>1</cp:revision>
  <dcterms:created xsi:type="dcterms:W3CDTF">2026-10-15T02:15:42Z</dcterms:created>
  <dcterms:modified xsi:type="dcterms:W3CDTF">2026-10-15T02:15:42Z</dcterms:modified>
</cp:coreProperties>
</file>